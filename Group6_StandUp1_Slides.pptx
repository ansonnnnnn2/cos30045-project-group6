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</p:sldMasterIdLst>
  <p:notesMasterIdLst>
    <p:notesMasterId r:id="rId9"/>
  </p:notesMasterIdLst>
  <p:sldIdLst>
    <p:sldId id="256" r:id="rId2"/>
    <p:sldId id="259" r:id="rId3"/>
    <p:sldId id="262" r:id="rId4"/>
    <p:sldId id="264" r:id="rId5"/>
    <p:sldId id="286" r:id="rId6"/>
    <p:sldId id="287" r:id="rId7"/>
    <p:sldId id="288" r:id="rId8"/>
  </p:sldIdLst>
  <p:sldSz cx="9144000" cy="5143500" type="screen16x9"/>
  <p:notesSz cx="6858000" cy="9144000"/>
  <p:embeddedFontLst>
    <p:embeddedFont>
      <p:font typeface="Bricolage Grotesque" panose="020B0604020202020204" charset="0"/>
      <p:regular r:id="rId10"/>
      <p:bold r:id="rId11"/>
    </p:embeddedFont>
    <p:embeddedFont>
      <p:font typeface="Bricolage Grotesque SemiBold" panose="020B0604020202020204" charset="0"/>
      <p:regular r:id="rId12"/>
      <p:bold r:id="rId13"/>
    </p:embeddedFont>
    <p:embeddedFont>
      <p:font typeface="Bricolage Grotesque Light" panose="020B0604020202020204" charset="0"/>
      <p:regular r:id="rId14"/>
      <p:bold r:id="rId15"/>
    </p:embeddedFont>
    <p:embeddedFont>
      <p:font typeface="Raleway" panose="020B0604020202020204" charset="0"/>
      <p:regular r:id="rId16"/>
      <p:bold r:id="rId17"/>
      <p:italic r:id="rId18"/>
      <p:boldItalic r:id="rId19"/>
    </p:embeddedFont>
    <p:embeddedFont>
      <p:font typeface="Google Sans" panose="020B0604020202020204" charset="0"/>
      <p:regular r:id="rId20"/>
      <p:bold r:id="rId21"/>
      <p:italic r:id="rId22"/>
      <p:boldItalic r:id="rId23"/>
    </p:embeddedFont>
    <p:embeddedFont>
      <p:font typeface="Imperial Script" panose="020B0604020202020204" charset="0"/>
      <p:regular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F2C5C85-00DE-4254-B0B6-F7A06D88B03B}">
  <a:tblStyle styleId="{4F2C5C85-00DE-4254-B0B6-F7A06D88B03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654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font" Target="fonts/font15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28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4930789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ed3401ed3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ed3401ed3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13389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e1d838b627_4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e1d838b627_4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64402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dc3844c0dd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dc3844c0dd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13415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e1d838b627_4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e1d838b627_4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35719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e1d838b627_4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e1d838b627_4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62846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e1d838b627_4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e1d838b627_4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90800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e1d838b627_4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e1d838b627_4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2360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>
            <a:spLocks noGrp="1"/>
          </p:cNvSpPr>
          <p:nvPr>
            <p:ph type="pic" idx="2"/>
          </p:nvPr>
        </p:nvSpPr>
        <p:spPr>
          <a:xfrm>
            <a:off x="1025" y="310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559904" y="297622"/>
            <a:ext cx="4343400" cy="191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559902" y="3982006"/>
            <a:ext cx="1664100" cy="565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Bricolage Grotesque Light"/>
                <a:ea typeface="Bricolage Grotesque Light"/>
                <a:cs typeface="Bricolage Grotesque Light"/>
                <a:sym typeface="Bricolage Grotesque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200">
                <a:solidFill>
                  <a:schemeClr val="lt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‹#›</a:t>
            </a:fld>
            <a:endParaRPr sz="1200">
              <a:solidFill>
                <a:schemeClr val="lt1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416050" y="301800"/>
            <a:ext cx="4731300" cy="15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1"/>
          </p:nvPr>
        </p:nvSpPr>
        <p:spPr>
          <a:xfrm>
            <a:off x="425153" y="3029696"/>
            <a:ext cx="2112300" cy="18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2"/>
          </p:nvPr>
        </p:nvSpPr>
        <p:spPr>
          <a:xfrm>
            <a:off x="425148" y="2219500"/>
            <a:ext cx="2112300" cy="7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3"/>
          </p:nvPr>
        </p:nvSpPr>
        <p:spPr>
          <a:xfrm>
            <a:off x="2976798" y="3029685"/>
            <a:ext cx="2112300" cy="18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4"/>
          </p:nvPr>
        </p:nvSpPr>
        <p:spPr>
          <a:xfrm>
            <a:off x="2985773" y="2219500"/>
            <a:ext cx="2112300" cy="7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>
            <a:spLocks noGrp="1"/>
          </p:cNvSpPr>
          <p:nvPr>
            <p:ph type="pic" idx="5"/>
          </p:nvPr>
        </p:nvSpPr>
        <p:spPr>
          <a:xfrm>
            <a:off x="5546400" y="715050"/>
            <a:ext cx="2770200" cy="3870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3998400" cy="144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1"/>
          </p:nvPr>
        </p:nvSpPr>
        <p:spPr>
          <a:xfrm>
            <a:off x="1609625" y="2066125"/>
            <a:ext cx="3824100" cy="25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7"/>
          <p:cNvSpPr>
            <a:spLocks noGrp="1"/>
          </p:cNvSpPr>
          <p:nvPr>
            <p:ph type="pic" idx="2"/>
          </p:nvPr>
        </p:nvSpPr>
        <p:spPr>
          <a:xfrm>
            <a:off x="5715849" y="0"/>
            <a:ext cx="3428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720064" y="1580125"/>
            <a:ext cx="3597000" cy="23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2"/>
          </p:nvPr>
        </p:nvSpPr>
        <p:spPr>
          <a:xfrm>
            <a:off x="4826936" y="1580125"/>
            <a:ext cx="3597000" cy="23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952850"/>
            <a:ext cx="6576000" cy="79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3" name="Google Shape;53;p11"/>
          <p:cNvSpPr txBox="1">
            <a:spLocks noGrp="1"/>
          </p:cNvSpPr>
          <p:nvPr>
            <p:ph type="subTitle" idx="1"/>
          </p:nvPr>
        </p:nvSpPr>
        <p:spPr>
          <a:xfrm>
            <a:off x="1284000" y="2816250"/>
            <a:ext cx="6576000" cy="374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ONE_COLUMN_TEXT_1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" name="Google Shape;81;p15"/>
          <p:cNvSpPr txBox="1">
            <a:spLocks noGrp="1"/>
          </p:cNvSpPr>
          <p:nvPr>
            <p:ph type="title"/>
          </p:nvPr>
        </p:nvSpPr>
        <p:spPr>
          <a:xfrm>
            <a:off x="435665" y="310121"/>
            <a:ext cx="3375000" cy="196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5"/>
          <p:cNvSpPr>
            <a:spLocks noGrp="1"/>
          </p:cNvSpPr>
          <p:nvPr>
            <p:ph type="pic" idx="2"/>
          </p:nvPr>
        </p:nvSpPr>
        <p:spPr>
          <a:xfrm>
            <a:off x="5643970" y="715050"/>
            <a:ext cx="3271500" cy="3857100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5"/>
          <p:cNvSpPr txBox="1">
            <a:spLocks noGrp="1"/>
          </p:cNvSpPr>
          <p:nvPr>
            <p:ph type="subTitle" idx="1"/>
          </p:nvPr>
        </p:nvSpPr>
        <p:spPr>
          <a:xfrm>
            <a:off x="435665" y="2971650"/>
            <a:ext cx="4714800" cy="160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6"/>
          <p:cNvSpPr>
            <a:spLocks noGrp="1"/>
          </p:cNvSpPr>
          <p:nvPr>
            <p:ph type="pic" idx="2"/>
          </p:nvPr>
        </p:nvSpPr>
        <p:spPr>
          <a:xfrm rot="-5400000">
            <a:off x="466632" y="1590691"/>
            <a:ext cx="3646800" cy="243150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16"/>
          <p:cNvSpPr txBox="1">
            <a:spLocks noGrp="1"/>
          </p:cNvSpPr>
          <p:nvPr>
            <p:ph type="title" hasCustomPrompt="1"/>
          </p:nvPr>
        </p:nvSpPr>
        <p:spPr>
          <a:xfrm>
            <a:off x="4346975" y="1322641"/>
            <a:ext cx="4568700" cy="75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200"/>
              <a:buNone/>
              <a:defRPr sz="4500" b="1">
                <a:solidFill>
                  <a:schemeClr val="accent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88" name="Google Shape;88;p16"/>
          <p:cNvSpPr txBox="1">
            <a:spLocks noGrp="1"/>
          </p:cNvSpPr>
          <p:nvPr>
            <p:ph type="subTitle" idx="1"/>
          </p:nvPr>
        </p:nvSpPr>
        <p:spPr>
          <a:xfrm>
            <a:off x="4346975" y="2190850"/>
            <a:ext cx="4568700" cy="44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6"/>
          <p:cNvSpPr txBox="1">
            <a:spLocks noGrp="1"/>
          </p:cNvSpPr>
          <p:nvPr>
            <p:ph type="title" idx="3" hasCustomPrompt="1"/>
          </p:nvPr>
        </p:nvSpPr>
        <p:spPr>
          <a:xfrm>
            <a:off x="4346975" y="3040273"/>
            <a:ext cx="4568700" cy="75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200"/>
              <a:buNone/>
              <a:defRPr sz="4500" b="1">
                <a:solidFill>
                  <a:schemeClr val="accent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90" name="Google Shape;90;p16"/>
          <p:cNvSpPr txBox="1">
            <a:spLocks noGrp="1"/>
          </p:cNvSpPr>
          <p:nvPr>
            <p:ph type="subTitle" idx="4"/>
          </p:nvPr>
        </p:nvSpPr>
        <p:spPr>
          <a:xfrm>
            <a:off x="4346975" y="3908440"/>
            <a:ext cx="4568700" cy="44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6"/>
          <p:cNvSpPr txBox="1">
            <a:spLocks noGrp="1"/>
          </p:cNvSpPr>
          <p:nvPr>
            <p:ph type="title" idx="5"/>
          </p:nvPr>
        </p:nvSpPr>
        <p:spPr>
          <a:xfrm>
            <a:off x="435675" y="303015"/>
            <a:ext cx="8272800" cy="56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8" name="Google Shape;98;p18"/>
          <p:cNvCxnSpPr/>
          <p:nvPr/>
        </p:nvCxnSpPr>
        <p:spPr>
          <a:xfrm>
            <a:off x="8911375" y="730200"/>
            <a:ext cx="0" cy="3683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" name="Google Shape;100;p19"/>
          <p:cNvCxnSpPr/>
          <p:nvPr/>
        </p:nvCxnSpPr>
        <p:spPr>
          <a:xfrm>
            <a:off x="5470075" y="4914050"/>
            <a:ext cx="3450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oogle Sans"/>
              <a:buNone/>
              <a:defRPr sz="2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oogle Sans"/>
              <a:buNone/>
              <a:defRPr sz="2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oogle Sans"/>
              <a:buNone/>
              <a:defRPr sz="2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oogle Sans"/>
              <a:buNone/>
              <a:defRPr sz="2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oogle Sans"/>
              <a:buNone/>
              <a:defRPr sz="2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oogle Sans"/>
              <a:buNone/>
              <a:defRPr sz="2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oogle Sans"/>
              <a:buNone/>
              <a:defRPr sz="2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oogle Sans"/>
              <a:buNone/>
              <a:defRPr sz="2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oogle Sans"/>
              <a:buNone/>
              <a:defRPr sz="26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ricolage Grotesque"/>
              <a:buChar char="●"/>
              <a:defRPr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ricolage Grotesque"/>
              <a:buChar char="○"/>
              <a:defRPr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ricolage Grotesque"/>
              <a:buChar char="■"/>
              <a:defRPr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ricolage Grotesque"/>
              <a:buChar char="●"/>
              <a:defRPr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ricolage Grotesque"/>
              <a:buChar char="○"/>
              <a:defRPr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ricolage Grotesque"/>
              <a:buChar char="■"/>
              <a:defRPr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ricolage Grotesque"/>
              <a:buChar char="●"/>
              <a:defRPr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ricolage Grotesque"/>
              <a:buChar char="○"/>
              <a:defRPr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ricolage Grotesque"/>
              <a:buChar char="■"/>
              <a:defRPr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defRPr>
            </a:lvl1pPr>
            <a:lvl2pPr lvl="1" algn="r">
              <a:buNone/>
              <a:defRPr>
                <a:solidFill>
                  <a:schemeClr val="dk1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defRPr>
            </a:lvl2pPr>
            <a:lvl3pPr lvl="2" algn="r">
              <a:buNone/>
              <a:defRPr>
                <a:solidFill>
                  <a:schemeClr val="dk1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defRPr>
            </a:lvl3pPr>
            <a:lvl4pPr lvl="3" algn="r">
              <a:buNone/>
              <a:defRPr>
                <a:solidFill>
                  <a:schemeClr val="dk1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defRPr>
            </a:lvl4pPr>
            <a:lvl5pPr lvl="4" algn="r">
              <a:buNone/>
              <a:defRPr>
                <a:solidFill>
                  <a:schemeClr val="dk1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defRPr>
            </a:lvl5pPr>
            <a:lvl6pPr lvl="5" algn="r">
              <a:buNone/>
              <a:defRPr>
                <a:solidFill>
                  <a:schemeClr val="dk1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defRPr>
            </a:lvl6pPr>
            <a:lvl7pPr lvl="6" algn="r">
              <a:buNone/>
              <a:defRPr>
                <a:solidFill>
                  <a:schemeClr val="dk1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defRPr>
            </a:lvl7pPr>
            <a:lvl8pPr lvl="7" algn="r">
              <a:buNone/>
              <a:defRPr>
                <a:solidFill>
                  <a:schemeClr val="dk1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defRPr>
            </a:lvl8pPr>
            <a:lvl9pPr lvl="8" algn="r">
              <a:buNone/>
              <a:defRPr>
                <a:solidFill>
                  <a:schemeClr val="dk1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9" name="Google Shape;9;p1"/>
          <p:cNvCxnSpPr/>
          <p:nvPr/>
        </p:nvCxnSpPr>
        <p:spPr>
          <a:xfrm>
            <a:off x="233025" y="715050"/>
            <a:ext cx="0" cy="371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7" r:id="rId7"/>
    <p:sldLayoutId id="2147483658" r:id="rId8"/>
    <p:sldLayoutId id="2147483661" r:id="rId9"/>
    <p:sldLayoutId id="2147483662" r:id="rId10"/>
    <p:sldLayoutId id="2147483664" r:id="rId11"/>
    <p:sldLayoutId id="2147483665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4" title="portada-abstract.jp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397" r="407"/>
          <a:stretch/>
        </p:blipFill>
        <p:spPr>
          <a:xfrm>
            <a:off x="1025" y="3100"/>
            <a:ext cx="9144003" cy="5143500"/>
          </a:xfrm>
          <a:prstGeom prst="rect">
            <a:avLst/>
          </a:prstGeom>
        </p:spPr>
      </p:pic>
      <p:sp>
        <p:nvSpPr>
          <p:cNvPr id="117" name="Google Shape;117;p24"/>
          <p:cNvSpPr txBox="1">
            <a:spLocks noGrp="1"/>
          </p:cNvSpPr>
          <p:nvPr>
            <p:ph type="ctrTitle"/>
          </p:nvPr>
        </p:nvSpPr>
        <p:spPr>
          <a:xfrm>
            <a:off x="425072" y="2724027"/>
            <a:ext cx="3597860" cy="113764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 smtClean="0"/>
              <a:t>Project Stand Up 1</a:t>
            </a:r>
            <a:endParaRPr sz="2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 smtClean="0"/>
              <a:t>Group 6</a:t>
            </a:r>
            <a:endParaRPr sz="2800" dirty="0"/>
          </a:p>
        </p:txBody>
      </p:sp>
      <p:sp>
        <p:nvSpPr>
          <p:cNvPr id="118" name="Google Shape;118;p24"/>
          <p:cNvSpPr txBox="1">
            <a:spLocks noGrp="1"/>
          </p:cNvSpPr>
          <p:nvPr>
            <p:ph type="subTitle" idx="1"/>
          </p:nvPr>
        </p:nvSpPr>
        <p:spPr>
          <a:xfrm>
            <a:off x="465026" y="3938637"/>
            <a:ext cx="1664100" cy="56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Tan Jean Shern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Darren Ling Jun Hang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Foo Jin Xuan</a:t>
            </a:r>
            <a:endParaRPr dirty="0"/>
          </a:p>
        </p:txBody>
      </p:sp>
      <p:sp>
        <p:nvSpPr>
          <p:cNvPr id="119" name="Google Shape;119;p24"/>
          <p:cNvSpPr txBox="1"/>
          <p:nvPr/>
        </p:nvSpPr>
        <p:spPr>
          <a:xfrm>
            <a:off x="7524400" y="662933"/>
            <a:ext cx="1178400" cy="2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 smtClean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20</a:t>
            </a:r>
            <a:r>
              <a:rPr lang="en" sz="1100" i="1" dirty="0" smtClean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26</a:t>
            </a:r>
            <a:endParaRPr sz="1100" i="1" dirty="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120" name="Google Shape;120;p24"/>
          <p:cNvCxnSpPr/>
          <p:nvPr/>
        </p:nvCxnSpPr>
        <p:spPr>
          <a:xfrm>
            <a:off x="233025" y="715050"/>
            <a:ext cx="0" cy="371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Rectangle 4"/>
          <p:cNvSpPr/>
          <p:nvPr/>
        </p:nvSpPr>
        <p:spPr>
          <a:xfrm>
            <a:off x="405930" y="339027"/>
            <a:ext cx="7234003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Clr>
                <a:srgbClr val="191919"/>
              </a:buClr>
              <a:buSzPts val="5200"/>
            </a:pPr>
            <a:r>
              <a:rPr lang="en-US" sz="3200" dirty="0" smtClean="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Interactive </a:t>
            </a:r>
            <a:r>
              <a:rPr lang="en-US" sz="3200" dirty="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Visual Analytics for </a:t>
            </a:r>
          </a:p>
          <a:p>
            <a:pPr lvl="0">
              <a:buClr>
                <a:srgbClr val="191919"/>
              </a:buClr>
              <a:buSzPts val="5200"/>
            </a:pPr>
            <a:r>
              <a:rPr lang="en-US" sz="3200" dirty="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Australian </a:t>
            </a:r>
            <a:r>
              <a:rPr lang="en-US" sz="3200" dirty="0" err="1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Hospitalised</a:t>
            </a:r>
            <a:r>
              <a:rPr lang="en-US" sz="3200" dirty="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 Road Traffic Injury Trends</a:t>
            </a:r>
          </a:p>
          <a:p>
            <a:pPr lvl="0">
              <a:buClr>
                <a:srgbClr val="191919"/>
              </a:buClr>
              <a:buSzPts val="5200"/>
            </a:pPr>
            <a:endParaRPr lang="en-MY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194" name="Google Shape;194;p27"/>
          <p:cNvSpPr txBox="1">
            <a:spLocks noGrp="1"/>
          </p:cNvSpPr>
          <p:nvPr>
            <p:ph type="subTitle" idx="1"/>
          </p:nvPr>
        </p:nvSpPr>
        <p:spPr>
          <a:xfrm>
            <a:off x="649154" y="1488200"/>
            <a:ext cx="4499302" cy="52351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buNone/>
            </a:pPr>
            <a:r>
              <a:rPr lang="en-US" dirty="0" smtClean="0"/>
              <a:t>BITRE Hospitalized </a:t>
            </a:r>
            <a:r>
              <a:rPr lang="en-US" dirty="0"/>
              <a:t>Injury Data (2011 – 2021</a:t>
            </a:r>
            <a:r>
              <a:rPr lang="en-US" dirty="0" smtClean="0"/>
              <a:t>).</a:t>
            </a:r>
            <a:endParaRPr lang="en-US" dirty="0"/>
          </a:p>
        </p:txBody>
      </p:sp>
      <p:sp>
        <p:nvSpPr>
          <p:cNvPr id="195" name="Google Shape;195;p27"/>
          <p:cNvSpPr txBox="1">
            <a:spLocks noGrp="1"/>
          </p:cNvSpPr>
          <p:nvPr>
            <p:ph type="title"/>
          </p:nvPr>
        </p:nvSpPr>
        <p:spPr>
          <a:xfrm>
            <a:off x="435665" y="310121"/>
            <a:ext cx="5099596" cy="10021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Background &amp; Dataset Overview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4572000" y="1661991"/>
            <a:ext cx="589823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buClr>
                <a:srgbClr val="FFFFFF"/>
              </a:buClr>
              <a:buSzPts val="1400"/>
            </a:pPr>
            <a:r>
              <a:rPr lang="en-US" sz="1200" dirty="0" smtClean="0">
                <a:solidFill>
                  <a:srgbClr val="FFFFFF"/>
                </a:solidFill>
                <a:latin typeface="Bricolage Grotesque"/>
                <a:sym typeface="Bricolage Grotesque"/>
              </a:rPr>
              <a:t>Road safety policy researchers, transport authorities, </a:t>
            </a:r>
          </a:p>
          <a:p>
            <a:pPr lvl="0" algn="just">
              <a:buClr>
                <a:srgbClr val="FFFFFF"/>
              </a:buClr>
              <a:buSzPts val="1400"/>
            </a:pPr>
            <a:r>
              <a:rPr lang="en-US" sz="1200" dirty="0" smtClean="0">
                <a:solidFill>
                  <a:srgbClr val="FFFFFF"/>
                </a:solidFill>
                <a:latin typeface="Bricolage Grotesque"/>
                <a:sym typeface="Bricolage Grotesque"/>
              </a:rPr>
              <a:t>general public.</a:t>
            </a:r>
            <a:endParaRPr lang="en-US" sz="1200" dirty="0">
              <a:solidFill>
                <a:srgbClr val="FFFFFF"/>
              </a:solidFill>
              <a:latin typeface="Bricolage Grotesque"/>
              <a:sym typeface="Bricolage Grotesque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9154" y="1292659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lvl="0">
              <a:buClr>
                <a:srgbClr val="FFFFFF"/>
              </a:buClr>
              <a:buSzPts val="2400"/>
            </a:pPr>
            <a:r>
              <a:rPr lang="en-US" sz="1800" b="1" dirty="0" smtClean="0">
                <a:solidFill>
                  <a:srgbClr val="96BFCB"/>
                </a:solidFill>
                <a:latin typeface="Bricolage Grotesque"/>
                <a:sym typeface="Bricolage Grotesque"/>
              </a:rPr>
              <a:t>Data Source </a:t>
            </a:r>
            <a:endParaRPr lang="en-MY" sz="1800" b="1" dirty="0">
              <a:solidFill>
                <a:srgbClr val="96BFCB"/>
              </a:solidFill>
              <a:latin typeface="Bricolage Grotesque"/>
              <a:sym typeface="Bricolage Grotesque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0" y="1237387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lvl="0">
              <a:buClr>
                <a:srgbClr val="FFFFFF"/>
              </a:buClr>
              <a:buSzPts val="2400"/>
            </a:pPr>
            <a:r>
              <a:rPr lang="en-MY" sz="1800" b="1" dirty="0" smtClean="0">
                <a:solidFill>
                  <a:srgbClr val="96BFCB"/>
                </a:solidFill>
                <a:latin typeface="Bricolage Grotesque"/>
                <a:sym typeface="Bricolage Grotesque"/>
              </a:rPr>
              <a:t>Target Audience</a:t>
            </a:r>
            <a:endParaRPr lang="en-MY" sz="1800" b="1" dirty="0">
              <a:solidFill>
                <a:srgbClr val="96BFCB"/>
              </a:solidFill>
              <a:latin typeface="Bricolage Grotesque"/>
              <a:sym typeface="Bricolage Grotesque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003010" y="2633759"/>
            <a:ext cx="24833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buClr>
                <a:srgbClr val="FFFFFF"/>
              </a:buClr>
              <a:buSzPts val="2400"/>
            </a:pPr>
            <a:r>
              <a:rPr lang="en-US" sz="1800" b="1" dirty="0" smtClean="0">
                <a:solidFill>
                  <a:srgbClr val="96BFCB"/>
                </a:solidFill>
                <a:latin typeface="Bricolage Grotesque"/>
                <a:sym typeface="Bricolage Grotesque"/>
              </a:rPr>
              <a:t>Governance/Privacy</a:t>
            </a:r>
            <a:endParaRPr lang="en-MY" sz="1800" b="1" dirty="0">
              <a:solidFill>
                <a:srgbClr val="96BFCB"/>
              </a:solidFill>
              <a:latin typeface="Bricolage Grotesque"/>
              <a:sym typeface="Bricolage Grotesque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93606" y="3003091"/>
            <a:ext cx="544732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smtClean="0">
                <a:solidFill>
                  <a:srgbClr val="FFFFFF"/>
                </a:solidFill>
                <a:latin typeface="Bricolage Grotesque"/>
                <a:sym typeface="Bricolage Grotesque"/>
              </a:rPr>
              <a:t>Open-access aggregated public health data ( no personal Identifiable info)</a:t>
            </a:r>
            <a:endParaRPr lang="en-MY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217" name="Google Shape;217;p30"/>
          <p:cNvSpPr txBox="1">
            <a:spLocks noGrp="1"/>
          </p:cNvSpPr>
          <p:nvPr>
            <p:ph type="title"/>
          </p:nvPr>
        </p:nvSpPr>
        <p:spPr>
          <a:xfrm>
            <a:off x="416050" y="301800"/>
            <a:ext cx="4731300" cy="15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Work Completed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0072" y="801976"/>
            <a:ext cx="2767824" cy="387129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3021" y="926048"/>
            <a:ext cx="5398417" cy="37472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2"/>
          <p:cNvSpPr txBox="1">
            <a:spLocks noGrp="1"/>
          </p:cNvSpPr>
          <p:nvPr>
            <p:ph type="title" idx="3"/>
          </p:nvPr>
        </p:nvSpPr>
        <p:spPr>
          <a:xfrm>
            <a:off x="5666223" y="726555"/>
            <a:ext cx="4568700" cy="75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 smtClean="0"/>
              <a:t>Count of cases</a:t>
            </a:r>
            <a:endParaRPr sz="2000" dirty="0"/>
          </a:p>
        </p:txBody>
      </p:sp>
      <p:sp>
        <p:nvSpPr>
          <p:cNvPr id="239" name="Google Shape;239;p32"/>
          <p:cNvSpPr txBox="1">
            <a:spLocks noGrp="1"/>
          </p:cNvSpPr>
          <p:nvPr>
            <p:ph type="subTitle" idx="4"/>
          </p:nvPr>
        </p:nvSpPr>
        <p:spPr>
          <a:xfrm>
            <a:off x="5666223" y="1697478"/>
            <a:ext cx="3354935" cy="23513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2011 – 34294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2012 – 34270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2013 – 35217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2014 – 35729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2015 – 37325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2016 – 39231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2017 – 39541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2018 – 39787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2019 – 40060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2020 – 38054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2021 – 39505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0" name="Google Shape;240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241" name="Google Shape;241;p32"/>
          <p:cNvSpPr txBox="1">
            <a:spLocks noGrp="1"/>
          </p:cNvSpPr>
          <p:nvPr>
            <p:ph type="title" idx="5"/>
          </p:nvPr>
        </p:nvSpPr>
        <p:spPr>
          <a:xfrm>
            <a:off x="435675" y="303015"/>
            <a:ext cx="8272800" cy="56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 smtClean="0"/>
              <a:t>Total Injuires (Years)</a:t>
            </a:r>
            <a:endParaRPr dirty="0"/>
          </a:p>
        </p:txBody>
      </p:sp>
      <p:pic>
        <p:nvPicPr>
          <p:cNvPr id="17" name="Picture Placeholder 16"/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1035" r="1035"/>
          <a:stretch>
            <a:fillRect/>
          </a:stretch>
        </p:blipFill>
        <p:spPr>
          <a:xfrm>
            <a:off x="435675" y="1103955"/>
            <a:ext cx="4775200" cy="34972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2"/>
          <p:cNvSpPr txBox="1">
            <a:spLocks noGrp="1"/>
          </p:cNvSpPr>
          <p:nvPr>
            <p:ph type="title" idx="3"/>
          </p:nvPr>
        </p:nvSpPr>
        <p:spPr>
          <a:xfrm>
            <a:off x="5666223" y="726555"/>
            <a:ext cx="4568700" cy="75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 smtClean="0"/>
              <a:t>Road User Group</a:t>
            </a:r>
            <a:endParaRPr sz="2000" dirty="0"/>
          </a:p>
        </p:txBody>
      </p:sp>
      <p:sp>
        <p:nvSpPr>
          <p:cNvPr id="239" name="Google Shape;239;p32"/>
          <p:cNvSpPr txBox="1">
            <a:spLocks noGrp="1"/>
          </p:cNvSpPr>
          <p:nvPr>
            <p:ph type="subTitle" idx="4"/>
          </p:nvPr>
        </p:nvSpPr>
        <p:spPr>
          <a:xfrm>
            <a:off x="5666223" y="1697478"/>
            <a:ext cx="3354935" cy="23513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Car passenger – 53577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Car unknown position – 8880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Heavy transport Passenger – 554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Pedal Cyclist – 75486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Pedestrians – 29093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Motorcyclist – 92642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Bus occupant – 2602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Car Driver – 135733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Others – 6367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Pick-up truck – 3002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Heavy Transport Driver – 4630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0" name="Google Shape;240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241" name="Google Shape;241;p32"/>
          <p:cNvSpPr txBox="1">
            <a:spLocks noGrp="1"/>
          </p:cNvSpPr>
          <p:nvPr>
            <p:ph type="title" idx="5"/>
          </p:nvPr>
        </p:nvSpPr>
        <p:spPr>
          <a:xfrm>
            <a:off x="435675" y="303015"/>
            <a:ext cx="8272800" cy="56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 smtClean="0"/>
              <a:t>Total Injuires (By U</a:t>
            </a:r>
            <a:r>
              <a:rPr lang="en-MY" i="1" dirty="0" smtClean="0"/>
              <a:t>s</a:t>
            </a:r>
            <a:r>
              <a:rPr lang="en" i="1" dirty="0" smtClean="0"/>
              <a:t>er group)</a:t>
            </a:r>
            <a:endParaRPr dirty="0"/>
          </a:p>
        </p:txBody>
      </p:sp>
      <p:pic>
        <p:nvPicPr>
          <p:cNvPr id="3" name="Picture Placeholder 2"/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1905" r="1905"/>
          <a:stretch>
            <a:fillRect/>
          </a:stretch>
        </p:blipFill>
        <p:spPr>
          <a:xfrm>
            <a:off x="435675" y="1025282"/>
            <a:ext cx="5033963" cy="346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488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2"/>
          <p:cNvSpPr txBox="1">
            <a:spLocks noGrp="1"/>
          </p:cNvSpPr>
          <p:nvPr>
            <p:ph type="title" idx="3"/>
          </p:nvPr>
        </p:nvSpPr>
        <p:spPr>
          <a:xfrm>
            <a:off x="5666223" y="726555"/>
            <a:ext cx="4568700" cy="75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 smtClean="0"/>
              <a:t>Road User Age Group</a:t>
            </a:r>
            <a:endParaRPr sz="2000" dirty="0"/>
          </a:p>
        </p:txBody>
      </p:sp>
      <p:sp>
        <p:nvSpPr>
          <p:cNvPr id="239" name="Google Shape;239;p32"/>
          <p:cNvSpPr txBox="1">
            <a:spLocks noGrp="1"/>
          </p:cNvSpPr>
          <p:nvPr>
            <p:ph type="subTitle" idx="4"/>
          </p:nvPr>
        </p:nvSpPr>
        <p:spPr>
          <a:xfrm>
            <a:off x="5666223" y="1697478"/>
            <a:ext cx="3354935" cy="23513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0-7 – 8051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8-16 - 27528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17-25 – 89259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26-39 – 99795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40-64 – 134246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65-74 - 28305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75+ - 25828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0" name="Google Shape;240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241" name="Google Shape;241;p32"/>
          <p:cNvSpPr txBox="1">
            <a:spLocks noGrp="1"/>
          </p:cNvSpPr>
          <p:nvPr>
            <p:ph type="title" idx="5"/>
          </p:nvPr>
        </p:nvSpPr>
        <p:spPr>
          <a:xfrm>
            <a:off x="435675" y="303015"/>
            <a:ext cx="8272800" cy="56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 smtClean="0"/>
              <a:t>Total Injuires (</a:t>
            </a:r>
            <a:r>
              <a:rPr lang="en-US" i="1" dirty="0" smtClean="0"/>
              <a:t>By Age Group</a:t>
            </a:r>
            <a:r>
              <a:rPr lang="en" i="1" dirty="0" smtClean="0"/>
              <a:t>)</a:t>
            </a:r>
            <a:endParaRPr dirty="0"/>
          </a:p>
        </p:txBody>
      </p:sp>
      <p:pic>
        <p:nvPicPr>
          <p:cNvPr id="4" name="Picture Placeholder 3"/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645" r="645"/>
          <a:stretch>
            <a:fillRect/>
          </a:stretch>
        </p:blipFill>
        <p:spPr>
          <a:xfrm>
            <a:off x="434975" y="1030288"/>
            <a:ext cx="4972050" cy="36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362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411643" y="947514"/>
            <a:ext cx="4572000" cy="32624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" sz="8600" i="1" dirty="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T</a:t>
            </a:r>
            <a:r>
              <a:rPr lang="en" sz="8600" dirty="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HA</a:t>
            </a:r>
            <a:r>
              <a:rPr lang="en" sz="8600" i="1" dirty="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N</a:t>
            </a:r>
            <a:r>
              <a:rPr lang="en" sz="8600" dirty="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K </a:t>
            </a:r>
            <a:r>
              <a:rPr lang="en" sz="12000" dirty="0">
                <a:solidFill>
                  <a:srgbClr val="FFFFFF"/>
                </a:solidFill>
                <a:latin typeface="Imperial Script"/>
                <a:ea typeface="Imperial Script"/>
                <a:cs typeface="Imperial Script"/>
                <a:sym typeface="Imperial Script"/>
              </a:rPr>
              <a:t>Y</a:t>
            </a:r>
            <a:r>
              <a:rPr lang="en" sz="8600" i="1" dirty="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O</a:t>
            </a:r>
            <a:r>
              <a:rPr lang="en" sz="8600" dirty="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U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123539505"/>
      </p:ext>
    </p:extLst>
  </p:cSld>
  <p:clrMapOvr>
    <a:masterClrMapping/>
  </p:clrMapOvr>
</p:sld>
</file>

<file path=ppt/theme/theme1.xml><?xml version="1.0" encoding="utf-8"?>
<a:theme xmlns:a="http://schemas.openxmlformats.org/drawingml/2006/main" name="Abstract Art by Slidesgo">
  <a:themeElements>
    <a:clrScheme name="Simple Light">
      <a:dk1>
        <a:srgbClr val="FFFFFF"/>
      </a:dk1>
      <a:lt1>
        <a:srgbClr val="1C2C3B"/>
      </a:lt1>
      <a:dk2>
        <a:srgbClr val="96BFCB"/>
      </a:dk2>
      <a:lt2>
        <a:srgbClr val="44466A"/>
      </a:lt2>
      <a:accent1>
        <a:srgbClr val="F88196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850</TotalTime>
  <Words>207</Words>
  <Application>Microsoft Office PowerPoint</Application>
  <PresentationFormat>On-screen Show (16:9)</PresentationFormat>
  <Paragraphs>59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Bricolage Grotesque</vt:lpstr>
      <vt:lpstr>Bricolage Grotesque SemiBold</vt:lpstr>
      <vt:lpstr>Arial</vt:lpstr>
      <vt:lpstr>Bricolage Grotesque Light</vt:lpstr>
      <vt:lpstr>Raleway</vt:lpstr>
      <vt:lpstr>Google Sans</vt:lpstr>
      <vt:lpstr>Imperial Script</vt:lpstr>
      <vt:lpstr>Abstract Art by Slidesgo</vt:lpstr>
      <vt:lpstr>Project Stand Up 1 Group 6</vt:lpstr>
      <vt:lpstr>Background &amp; Dataset Overview</vt:lpstr>
      <vt:lpstr>Work Completed  </vt:lpstr>
      <vt:lpstr>Count of cases</vt:lpstr>
      <vt:lpstr>Road User Group</vt:lpstr>
      <vt:lpstr>Road User Age Group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Stand Up 1 Group 6</dc:title>
  <cp:lastModifiedBy>Microsoft account</cp:lastModifiedBy>
  <cp:revision>11</cp:revision>
  <dcterms:modified xsi:type="dcterms:W3CDTF">2026-10-21T14:21:25Z</dcterms:modified>
</cp:coreProperties>
</file>